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75" y="5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3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807208"/>
          </a:xfrm>
          <a:prstGeom prst="rect">
            <a:avLst/>
          </a:prstGeom>
        </p:spPr>
      </p:pic>
      <p:sp>
        <p:nvSpPr>
          <p:cNvPr id="4" name="Text 0"/>
          <p:cNvSpPr/>
          <p:nvPr/>
        </p:nvSpPr>
        <p:spPr>
          <a:xfrm>
            <a:off x="832104" y="3456432"/>
            <a:ext cx="12984480" cy="2039112"/>
          </a:xfrm>
          <a:prstGeom prst="rect">
            <a:avLst/>
          </a:prstGeom>
          <a:noFill/>
          <a:ln/>
        </p:spPr>
        <p:txBody>
          <a:bodyPr wrap="square" lIns="0" tIns="0" rIns="0" bIns="0" rtlCol="0" anchor="ctr"/>
          <a:lstStyle/>
          <a:p>
            <a:pPr marL="0" indent="0" algn="l">
              <a:lnSpc>
                <a:spcPts val="8010"/>
              </a:lnSpc>
              <a:buNone/>
            </a:pPr>
            <a:r>
              <a:rPr lang="en-US" sz="6410" dirty="0">
                <a:solidFill>
                  <a:srgbClr val="055ABB"/>
                </a:solidFill>
                <a:latin typeface="思源黑体-思源黑体-Bold" pitchFamily="34" charset="0"/>
                <a:ea typeface="思源黑体-思源黑体-Bold" pitchFamily="34" charset="-122"/>
                <a:cs typeface="思源黑体-思源黑体-Bold" pitchFamily="34" charset="-120"/>
              </a:rPr>
              <a:t>CareConnect: Your Healthcare Companion</a:t>
            </a:r>
            <a:endParaRPr lang="en-US" sz="6410" dirty="0"/>
          </a:p>
        </p:txBody>
      </p:sp>
      <p:sp>
        <p:nvSpPr>
          <p:cNvPr id="5" name="Text 1"/>
          <p:cNvSpPr/>
          <p:nvPr/>
        </p:nvSpPr>
        <p:spPr>
          <a:xfrm>
            <a:off x="832104" y="5760720"/>
            <a:ext cx="12984480" cy="886968"/>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CareConnect is an all-in-one healthcare assistance platform providing tailored medical information to users. It helps users easily find hospitals, labs, and understand medical results. By combining accessibility with personalized health services, CareConnect empowers informed health decisions anytime, anywhere.</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sp>
        <p:nvSpPr>
          <p:cNvPr id="6" name="Text 2"/>
          <p:cNvSpPr/>
          <p:nvPr/>
        </p:nvSpPr>
        <p:spPr>
          <a:xfrm>
            <a:off x="1078992" y="3941064"/>
            <a:ext cx="7507224"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Ashish Gupta</a:t>
            </a:r>
            <a:endParaRPr lang="en-US" sz="2320" dirty="0"/>
          </a:p>
        </p:txBody>
      </p:sp>
      <p:sp>
        <p:nvSpPr>
          <p:cNvPr id="7" name="Text 3"/>
          <p:cNvSpPr/>
          <p:nvPr/>
        </p:nvSpPr>
        <p:spPr>
          <a:xfrm>
            <a:off x="832104" y="2167128"/>
            <a:ext cx="8010144" cy="740664"/>
          </a:xfrm>
          <a:prstGeom prst="rect">
            <a:avLst/>
          </a:prstGeom>
          <a:noFill/>
          <a:ln/>
        </p:spPr>
        <p:txBody>
          <a:bodyPr wrap="none" lIns="0" tIns="0" rIns="0" bIns="0" rtlCol="0" anchor="ctr"/>
          <a:lstStyle/>
          <a:p>
            <a:r>
              <a:rPr lang="en-IN" sz="4800" dirty="0"/>
              <a:t>Team:- The Learning Loop</a:t>
            </a:r>
          </a:p>
        </p:txBody>
      </p:sp>
      <p:sp>
        <p:nvSpPr>
          <p:cNvPr id="8" name="Text 4"/>
          <p:cNvSpPr/>
          <p:nvPr/>
        </p:nvSpPr>
        <p:spPr>
          <a:xfrm>
            <a:off x="1074420" y="3488436"/>
            <a:ext cx="7507224"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Himanshu Kumar Sharma</a:t>
            </a:r>
            <a:endParaRPr lang="en-US" sz="2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5815584" y="6016752"/>
            <a:ext cx="457200" cy="493776"/>
          </a:xfrm>
          <a:prstGeom prst="rect">
            <a:avLst/>
          </a:prstGeom>
        </p:spPr>
      </p:pic>
      <p:pic>
        <p:nvPicPr>
          <p:cNvPr id="5" name="Image 3" descr="preencoded.png"/>
          <p:cNvPicPr>
            <a:picLocks noChangeAspect="1"/>
          </p:cNvPicPr>
          <p:nvPr/>
        </p:nvPicPr>
        <p:blipFill>
          <a:blip r:embed="rId5"/>
          <a:stretch>
            <a:fillRect/>
          </a:stretch>
        </p:blipFill>
        <p:spPr>
          <a:xfrm>
            <a:off x="5815584" y="4032504"/>
            <a:ext cx="457200" cy="493776"/>
          </a:xfrm>
          <a:prstGeom prst="rect">
            <a:avLst/>
          </a:prstGeom>
        </p:spPr>
      </p:pic>
      <p:pic>
        <p:nvPicPr>
          <p:cNvPr id="6" name="Image 4" descr="preencoded.png"/>
          <p:cNvPicPr>
            <a:picLocks noChangeAspect="1"/>
          </p:cNvPicPr>
          <p:nvPr/>
        </p:nvPicPr>
        <p:blipFill>
          <a:blip r:embed="rId5"/>
          <a:stretch>
            <a:fillRect/>
          </a:stretch>
        </p:blipFill>
        <p:spPr>
          <a:xfrm>
            <a:off x="5815584" y="2048256"/>
            <a:ext cx="457200" cy="493776"/>
          </a:xfrm>
          <a:prstGeom prst="rect">
            <a:avLst/>
          </a:prstGeom>
        </p:spPr>
      </p:pic>
      <p:sp>
        <p:nvSpPr>
          <p:cNvPr id="7" name="Text 0"/>
          <p:cNvSpPr/>
          <p:nvPr/>
        </p:nvSpPr>
        <p:spPr>
          <a:xfrm>
            <a:off x="6583680" y="4069080"/>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Brochure Parsing &amp; Vectorization</a:t>
            </a:r>
            <a:endParaRPr lang="en-US" sz="2320" dirty="0"/>
          </a:p>
        </p:txBody>
      </p:sp>
      <p:sp>
        <p:nvSpPr>
          <p:cNvPr id="8" name="Text 1"/>
          <p:cNvSpPr/>
          <p:nvPr/>
        </p:nvSpPr>
        <p:spPr>
          <a:xfrm>
            <a:off x="5971032" y="6044184"/>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9" name="Text 2"/>
          <p:cNvSpPr/>
          <p:nvPr/>
        </p:nvSpPr>
        <p:spPr>
          <a:xfrm>
            <a:off x="6583680" y="6565392"/>
            <a:ext cx="7214616" cy="594360"/>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Users can search for hospitals based on location or specialization, guiding users to appropriate facilities.</a:t>
            </a:r>
            <a:endParaRPr lang="en-US" sz="1850" dirty="0"/>
          </a:p>
        </p:txBody>
      </p:sp>
      <p:sp>
        <p:nvSpPr>
          <p:cNvPr id="10" name="Text 3"/>
          <p:cNvSpPr/>
          <p:nvPr/>
        </p:nvSpPr>
        <p:spPr>
          <a:xfrm>
            <a:off x="6583680" y="4581144"/>
            <a:ext cx="7214616" cy="886968"/>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We extract detailed information from hospitals' brochures, such as bed count, doctor specializations, and fees, using NLP techniques.</a:t>
            </a:r>
            <a:endParaRPr lang="en-US" sz="1850" dirty="0"/>
          </a:p>
        </p:txBody>
      </p:sp>
      <p:sp>
        <p:nvSpPr>
          <p:cNvPr id="11" name="Text 4"/>
          <p:cNvSpPr/>
          <p:nvPr/>
        </p:nvSpPr>
        <p:spPr>
          <a:xfrm>
            <a:off x="5971032" y="4059936"/>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
        <p:nvSpPr>
          <p:cNvPr id="12" name="Text 5"/>
          <p:cNvSpPr/>
          <p:nvPr/>
        </p:nvSpPr>
        <p:spPr>
          <a:xfrm>
            <a:off x="5806440" y="804672"/>
            <a:ext cx="8010144" cy="740664"/>
          </a:xfrm>
          <a:prstGeom prst="rect">
            <a:avLst/>
          </a:prstGeom>
          <a:noFill/>
          <a:ln/>
        </p:spPr>
        <p:txBody>
          <a:bodyPr wrap="none" lIns="0" tIns="0" rIns="0" bIns="0" rtlCol="0" anchor="ctr"/>
          <a:lstStyle/>
          <a:p>
            <a:pPr marL="0" indent="0" algn="l">
              <a:lnSpc>
                <a:spcPts val="5800"/>
              </a:lnSpc>
              <a:buNone/>
            </a:pPr>
            <a:r>
              <a:rPr lang="en-US" sz="4640" dirty="0">
                <a:solidFill>
                  <a:srgbClr val="055ABB"/>
                </a:solidFill>
                <a:latin typeface="思源黑体-思源黑体-Bold" pitchFamily="34" charset="0"/>
                <a:ea typeface="思源黑体-思源黑体-Bold" pitchFamily="34" charset="-122"/>
                <a:cs typeface="思源黑体-思源黑体-Bold" pitchFamily="34" charset="-120"/>
              </a:rPr>
              <a:t>Hospital Agent Overview</a:t>
            </a:r>
            <a:endParaRPr lang="en-US" sz="4640" dirty="0"/>
          </a:p>
        </p:txBody>
      </p:sp>
      <p:sp>
        <p:nvSpPr>
          <p:cNvPr id="13" name="Text 6"/>
          <p:cNvSpPr/>
          <p:nvPr/>
        </p:nvSpPr>
        <p:spPr>
          <a:xfrm>
            <a:off x="6583680" y="6053328"/>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Functionality &amp; Use Cases</a:t>
            </a:r>
            <a:endParaRPr lang="en-US" sz="2320" dirty="0"/>
          </a:p>
        </p:txBody>
      </p:sp>
      <p:sp>
        <p:nvSpPr>
          <p:cNvPr id="14" name="Text 7"/>
          <p:cNvSpPr/>
          <p:nvPr/>
        </p:nvSpPr>
        <p:spPr>
          <a:xfrm>
            <a:off x="6583680" y="2596896"/>
            <a:ext cx="7214616" cy="886968"/>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We gather extensive hospital data, including names, addresses, and services offered, stored in an SQL database within Databricks Unity Catalog.</a:t>
            </a:r>
            <a:endParaRPr lang="en-US" sz="1850" dirty="0"/>
          </a:p>
        </p:txBody>
      </p:sp>
      <p:sp>
        <p:nvSpPr>
          <p:cNvPr id="15" name="Text 8"/>
          <p:cNvSpPr/>
          <p:nvPr/>
        </p:nvSpPr>
        <p:spPr>
          <a:xfrm>
            <a:off x="6583680" y="2084832"/>
            <a:ext cx="7214616"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Data Collection &amp; Storage</a:t>
            </a:r>
            <a:endParaRPr lang="en-US" sz="2320" dirty="0"/>
          </a:p>
        </p:txBody>
      </p:sp>
      <p:sp>
        <p:nvSpPr>
          <p:cNvPr id="16" name="Text 9"/>
          <p:cNvSpPr/>
          <p:nvPr/>
        </p:nvSpPr>
        <p:spPr>
          <a:xfrm>
            <a:off x="5971032" y="2075688"/>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47488" y="2350008"/>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2350008"/>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2350008"/>
            <a:ext cx="4544568" cy="4544568"/>
          </a:xfrm>
          <a:prstGeom prst="rect">
            <a:avLst/>
          </a:prstGeom>
        </p:spPr>
      </p:pic>
      <p:sp>
        <p:nvSpPr>
          <p:cNvPr id="6" name="Text 0"/>
          <p:cNvSpPr/>
          <p:nvPr/>
        </p:nvSpPr>
        <p:spPr>
          <a:xfrm>
            <a:off x="9710928" y="2185416"/>
            <a:ext cx="3986784" cy="740664"/>
          </a:xfrm>
          <a:prstGeom prst="rect">
            <a:avLst/>
          </a:prstGeom>
          <a:noFill/>
          <a:ln/>
        </p:spPr>
        <p:txBody>
          <a:bodyPr wrap="squar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Location &amp; Time-Aware Suggestions</a:t>
            </a:r>
            <a:endParaRPr lang="en-US" sz="2320" dirty="0"/>
          </a:p>
        </p:txBody>
      </p:sp>
      <p:sp>
        <p:nvSpPr>
          <p:cNvPr id="7" name="Text 1"/>
          <p:cNvSpPr/>
          <p:nvPr/>
        </p:nvSpPr>
        <p:spPr>
          <a:xfrm>
            <a:off x="9710928" y="3182112"/>
            <a:ext cx="3986784" cy="1188720"/>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The agent recommends nearby labs based on user location and current time, checking lab availability for services.</a:t>
            </a:r>
            <a:endParaRPr lang="en-US" sz="1850" dirty="0"/>
          </a:p>
        </p:txBody>
      </p:sp>
      <p:sp>
        <p:nvSpPr>
          <p:cNvPr id="8" name="Text 2"/>
          <p:cNvSpPr/>
          <p:nvPr/>
        </p:nvSpPr>
        <p:spPr>
          <a:xfrm>
            <a:off x="9710928" y="52486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User Interaction</a:t>
            </a:r>
            <a:endParaRPr lang="en-US" sz="2320" dirty="0"/>
          </a:p>
        </p:txBody>
      </p:sp>
      <p:sp>
        <p:nvSpPr>
          <p:cNvPr id="9" name="Text 3"/>
          <p:cNvSpPr/>
          <p:nvPr/>
        </p:nvSpPr>
        <p:spPr>
          <a:xfrm>
            <a:off x="832104" y="914400"/>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55ABB"/>
                </a:solidFill>
                <a:latin typeface="思源黑体-思源黑体-Bold" pitchFamily="34" charset="0"/>
                <a:ea typeface="思源黑体-思源黑体-Bold" pitchFamily="34" charset="-122"/>
                <a:cs typeface="思源黑体-思源黑体-Bold" pitchFamily="34" charset="-120"/>
              </a:rPr>
              <a:t>Lab &amp; Pathology Agent Overview</a:t>
            </a:r>
            <a:endParaRPr lang="en-US" sz="4640" dirty="0"/>
          </a:p>
        </p:txBody>
      </p:sp>
      <p:sp>
        <p:nvSpPr>
          <p:cNvPr id="10" name="Text 4"/>
          <p:cNvSpPr/>
          <p:nvPr/>
        </p:nvSpPr>
        <p:spPr>
          <a:xfrm>
            <a:off x="950976" y="3529584"/>
            <a:ext cx="3511296" cy="740664"/>
          </a:xfrm>
          <a:prstGeom prst="rect">
            <a:avLst/>
          </a:prstGeom>
          <a:noFill/>
          <a:ln/>
        </p:spPr>
        <p:txBody>
          <a:bodyPr wrap="square" lIns="0" tIns="0" rIns="0" bIns="0" rtlCol="0" anchor="ctr"/>
          <a:lstStyle/>
          <a:p>
            <a:pPr marL="0" indent="0" algn="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Data Collection &amp; Storage</a:t>
            </a:r>
            <a:endParaRPr lang="en-US" sz="2320" dirty="0"/>
          </a:p>
        </p:txBody>
      </p:sp>
      <p:sp>
        <p:nvSpPr>
          <p:cNvPr id="11" name="Text 5"/>
          <p:cNvSpPr/>
          <p:nvPr/>
        </p:nvSpPr>
        <p:spPr>
          <a:xfrm>
            <a:off x="950976" y="4535424"/>
            <a:ext cx="3511296" cy="1188720"/>
          </a:xfrm>
          <a:prstGeom prst="rect">
            <a:avLst/>
          </a:prstGeom>
          <a:noFill/>
          <a:ln/>
        </p:spPr>
        <p:txBody>
          <a:bodyPr wrap="square" lIns="0" tIns="0" rIns="0" bIns="0" rtlCol="0" anchor="ctr"/>
          <a:lstStyle/>
          <a:p>
            <a:pPr marL="0" indent="0" algn="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This agent gathers data from labs and pathology centers, including names, addresses, hours, and Google Map links.</a:t>
            </a:r>
            <a:endParaRPr lang="en-US" sz="1850" dirty="0"/>
          </a:p>
        </p:txBody>
      </p:sp>
      <p:sp>
        <p:nvSpPr>
          <p:cNvPr id="12" name="Text 6"/>
          <p:cNvSpPr/>
          <p:nvPr/>
        </p:nvSpPr>
        <p:spPr>
          <a:xfrm>
            <a:off x="9710928" y="5879592"/>
            <a:ext cx="3986784" cy="1188720"/>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Users receive filtered options in an organized way, enhancing their experience in finding healthcare services quickly.</a:t>
            </a:r>
            <a:endParaRPr lang="en-US" sz="1850" dirty="0"/>
          </a:p>
        </p:txBody>
      </p:sp>
      <p:sp>
        <p:nvSpPr>
          <p:cNvPr id="13" name="Text 7"/>
          <p:cNvSpPr/>
          <p:nvPr/>
        </p:nvSpPr>
        <p:spPr>
          <a:xfrm>
            <a:off x="6062472" y="440740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4" name="Text 8"/>
          <p:cNvSpPr/>
          <p:nvPr/>
        </p:nvSpPr>
        <p:spPr>
          <a:xfrm>
            <a:off x="7818120" y="3392424"/>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
        <p:nvSpPr>
          <p:cNvPr id="15" name="Text 9"/>
          <p:cNvSpPr/>
          <p:nvPr/>
        </p:nvSpPr>
        <p:spPr>
          <a:xfrm>
            <a:off x="7818120" y="5422392"/>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9930384" y="4983480"/>
            <a:ext cx="3840480" cy="1755648"/>
          </a:xfrm>
          <a:prstGeom prst="rect">
            <a:avLst/>
          </a:prstGeom>
        </p:spPr>
      </p:pic>
      <p:pic>
        <p:nvPicPr>
          <p:cNvPr id="5" name="Image 3" descr="preencoded.png"/>
          <p:cNvPicPr>
            <a:picLocks noChangeAspect="1"/>
          </p:cNvPicPr>
          <p:nvPr/>
        </p:nvPicPr>
        <p:blipFill>
          <a:blip r:embed="rId5"/>
          <a:stretch>
            <a:fillRect/>
          </a:stretch>
        </p:blipFill>
        <p:spPr>
          <a:xfrm>
            <a:off x="5815584" y="4983480"/>
            <a:ext cx="3840480" cy="1755648"/>
          </a:xfrm>
          <a:prstGeom prst="rect">
            <a:avLst/>
          </a:prstGeom>
        </p:spPr>
      </p:pic>
      <p:pic>
        <p:nvPicPr>
          <p:cNvPr id="6" name="Image 4" descr="preencoded.png"/>
          <p:cNvPicPr>
            <a:picLocks noChangeAspect="1"/>
          </p:cNvPicPr>
          <p:nvPr/>
        </p:nvPicPr>
        <p:blipFill>
          <a:blip r:embed="rId5"/>
          <a:stretch>
            <a:fillRect/>
          </a:stretch>
        </p:blipFill>
        <p:spPr>
          <a:xfrm>
            <a:off x="9930384" y="2980944"/>
            <a:ext cx="3840480" cy="1755648"/>
          </a:xfrm>
          <a:prstGeom prst="rect">
            <a:avLst/>
          </a:prstGeom>
        </p:spPr>
      </p:pic>
      <p:pic>
        <p:nvPicPr>
          <p:cNvPr id="7" name="Image 5" descr="preencoded.png"/>
          <p:cNvPicPr>
            <a:picLocks noChangeAspect="1"/>
          </p:cNvPicPr>
          <p:nvPr/>
        </p:nvPicPr>
        <p:blipFill>
          <a:blip r:embed="rId5"/>
          <a:stretch>
            <a:fillRect/>
          </a:stretch>
        </p:blipFill>
        <p:spPr>
          <a:xfrm>
            <a:off x="5815584" y="2980944"/>
            <a:ext cx="3840480" cy="1755648"/>
          </a:xfrm>
          <a:prstGeom prst="rect">
            <a:avLst/>
          </a:prstGeom>
        </p:spPr>
      </p:pic>
      <p:sp>
        <p:nvSpPr>
          <p:cNvPr id="8" name="Text 0"/>
          <p:cNvSpPr/>
          <p:nvPr/>
        </p:nvSpPr>
        <p:spPr>
          <a:xfrm>
            <a:off x="6071616" y="5632704"/>
            <a:ext cx="3355848" cy="886968"/>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Compares extracted values against standard medical ranges.</a:t>
            </a:r>
            <a:endParaRPr lang="en-US" sz="1850" dirty="0"/>
          </a:p>
        </p:txBody>
      </p:sp>
      <p:sp>
        <p:nvSpPr>
          <p:cNvPr id="9" name="Text 1"/>
          <p:cNvSpPr/>
          <p:nvPr/>
        </p:nvSpPr>
        <p:spPr>
          <a:xfrm>
            <a:off x="6071616" y="3630168"/>
            <a:ext cx="3355848" cy="886968"/>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Simplifies complex medical terms, making reports accessible.</a:t>
            </a:r>
            <a:endParaRPr lang="en-US" sz="1850" dirty="0"/>
          </a:p>
        </p:txBody>
      </p:sp>
      <p:sp>
        <p:nvSpPr>
          <p:cNvPr id="10" name="Text 2"/>
          <p:cNvSpPr/>
          <p:nvPr/>
        </p:nvSpPr>
        <p:spPr>
          <a:xfrm>
            <a:off x="6071616" y="5120640"/>
            <a:ext cx="335584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Medical Interpretation</a:t>
            </a:r>
            <a:endParaRPr lang="en-US" sz="2320" dirty="0"/>
          </a:p>
        </p:txBody>
      </p:sp>
      <p:sp>
        <p:nvSpPr>
          <p:cNvPr id="11" name="Text 3"/>
          <p:cNvSpPr/>
          <p:nvPr/>
        </p:nvSpPr>
        <p:spPr>
          <a:xfrm>
            <a:off x="6071616" y="3127248"/>
            <a:ext cx="335584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Core Idea</a:t>
            </a:r>
            <a:endParaRPr lang="en-US" sz="2320" dirty="0"/>
          </a:p>
        </p:txBody>
      </p:sp>
      <p:sp>
        <p:nvSpPr>
          <p:cNvPr id="12" name="Text 4"/>
          <p:cNvSpPr/>
          <p:nvPr/>
        </p:nvSpPr>
        <p:spPr>
          <a:xfrm>
            <a:off x="10186416" y="5120640"/>
            <a:ext cx="3355848" cy="740664"/>
          </a:xfrm>
          <a:prstGeom prst="rect">
            <a:avLst/>
          </a:prstGeom>
          <a:noFill/>
          <a:ln/>
        </p:spPr>
        <p:txBody>
          <a:bodyPr wrap="squar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User-Friendly Summary</a:t>
            </a:r>
            <a:endParaRPr lang="en-US" sz="2320" dirty="0"/>
          </a:p>
        </p:txBody>
      </p:sp>
      <p:sp>
        <p:nvSpPr>
          <p:cNvPr id="13" name="Text 5"/>
          <p:cNvSpPr/>
          <p:nvPr/>
        </p:nvSpPr>
        <p:spPr>
          <a:xfrm>
            <a:off x="10186416" y="4005072"/>
            <a:ext cx="335584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Utilizes OCR and PDF parsing to extract data accurately.</a:t>
            </a:r>
            <a:endParaRPr lang="en-US" sz="1850" dirty="0"/>
          </a:p>
        </p:txBody>
      </p:sp>
      <p:sp>
        <p:nvSpPr>
          <p:cNvPr id="14" name="Text 6"/>
          <p:cNvSpPr/>
          <p:nvPr/>
        </p:nvSpPr>
        <p:spPr>
          <a:xfrm>
            <a:off x="5806440" y="1234440"/>
            <a:ext cx="8010144" cy="1481328"/>
          </a:xfrm>
          <a:prstGeom prst="rect">
            <a:avLst/>
          </a:prstGeom>
          <a:noFill/>
          <a:ln/>
        </p:spPr>
        <p:txBody>
          <a:bodyPr wrap="square" lIns="0" tIns="0" rIns="0" bIns="0" rtlCol="0" anchor="ctr"/>
          <a:lstStyle/>
          <a:p>
            <a:pPr marL="0" indent="0" algn="l">
              <a:lnSpc>
                <a:spcPts val="5800"/>
              </a:lnSpc>
              <a:buNone/>
            </a:pPr>
            <a:r>
              <a:rPr lang="en-US" sz="4640" dirty="0">
                <a:solidFill>
                  <a:srgbClr val="055ABB"/>
                </a:solidFill>
                <a:latin typeface="思源黑体-思源黑体-Bold" pitchFamily="34" charset="0"/>
                <a:ea typeface="思源黑体-思源黑体-Bold" pitchFamily="34" charset="-122"/>
                <a:cs typeface="思源黑体-思源黑体-Bold" pitchFamily="34" charset="-120"/>
              </a:rPr>
              <a:t>Lab Report Summarizer Overview</a:t>
            </a:r>
            <a:endParaRPr lang="en-US" sz="4640" dirty="0"/>
          </a:p>
        </p:txBody>
      </p:sp>
      <p:sp>
        <p:nvSpPr>
          <p:cNvPr id="15" name="Text 7"/>
          <p:cNvSpPr/>
          <p:nvPr/>
        </p:nvSpPr>
        <p:spPr>
          <a:xfrm>
            <a:off x="10186416" y="3127248"/>
            <a:ext cx="3355848" cy="740664"/>
          </a:xfrm>
          <a:prstGeom prst="rect">
            <a:avLst/>
          </a:prstGeom>
          <a:noFill/>
          <a:ln/>
        </p:spPr>
        <p:txBody>
          <a:bodyPr wrap="squar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File Ingestion &amp; Extraction</a:t>
            </a:r>
            <a:endParaRPr lang="en-US" sz="2320" dirty="0"/>
          </a:p>
        </p:txBody>
      </p:sp>
      <p:sp>
        <p:nvSpPr>
          <p:cNvPr id="16" name="Text 8"/>
          <p:cNvSpPr/>
          <p:nvPr/>
        </p:nvSpPr>
        <p:spPr>
          <a:xfrm>
            <a:off x="10186416" y="5998464"/>
            <a:ext cx="335584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Generates a clear summary of significant parameters.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47488" y="2350008"/>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2350008"/>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2350008"/>
            <a:ext cx="4544568" cy="4544568"/>
          </a:xfrm>
          <a:prstGeom prst="rect">
            <a:avLst/>
          </a:prstGeom>
        </p:spPr>
      </p:pic>
      <p:pic>
        <p:nvPicPr>
          <p:cNvPr id="6" name="Image 4" descr="preencoded.png"/>
          <p:cNvPicPr>
            <a:picLocks noChangeAspect="1"/>
          </p:cNvPicPr>
          <p:nvPr/>
        </p:nvPicPr>
        <p:blipFill>
          <a:blip r:embed="rId7"/>
          <a:stretch>
            <a:fillRect/>
          </a:stretch>
        </p:blipFill>
        <p:spPr>
          <a:xfrm>
            <a:off x="5047488" y="2350008"/>
            <a:ext cx="4544568" cy="4544568"/>
          </a:xfrm>
          <a:prstGeom prst="rect">
            <a:avLst/>
          </a:prstGeom>
        </p:spPr>
      </p:pic>
      <p:sp>
        <p:nvSpPr>
          <p:cNvPr id="7" name="Text 0"/>
          <p:cNvSpPr/>
          <p:nvPr/>
        </p:nvSpPr>
        <p:spPr>
          <a:xfrm>
            <a:off x="9710928" y="5879592"/>
            <a:ext cx="3986784" cy="1188720"/>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The agent performs semantic searches to find suitable medications based on user symptoms.</a:t>
            </a:r>
            <a:endParaRPr lang="en-US" sz="1850" dirty="0"/>
          </a:p>
        </p:txBody>
      </p:sp>
      <p:sp>
        <p:nvSpPr>
          <p:cNvPr id="8" name="Text 1"/>
          <p:cNvSpPr/>
          <p:nvPr/>
        </p:nvSpPr>
        <p:spPr>
          <a:xfrm>
            <a:off x="9710928" y="2962656"/>
            <a:ext cx="3986784" cy="886968"/>
          </a:xfrm>
          <a:prstGeom prst="rect">
            <a:avLst/>
          </a:prstGeom>
          <a:noFill/>
          <a:ln/>
        </p:spPr>
        <p:txBody>
          <a:bodyPr wrap="square" lIns="0" tIns="0" rIns="0" bIns="0" rtlCol="0" anchor="ctr"/>
          <a:lstStyle/>
          <a:p>
            <a:pPr marL="0" indent="0" algn="l">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The agent retrieves user-specific information for personalized medication suggestions.</a:t>
            </a:r>
            <a:endParaRPr lang="en-US" sz="1850" dirty="0"/>
          </a:p>
        </p:txBody>
      </p:sp>
      <p:sp>
        <p:nvSpPr>
          <p:cNvPr id="9" name="Text 2"/>
          <p:cNvSpPr/>
          <p:nvPr/>
        </p:nvSpPr>
        <p:spPr>
          <a:xfrm>
            <a:off x="950976" y="6071616"/>
            <a:ext cx="3986784" cy="1188720"/>
          </a:xfrm>
          <a:prstGeom prst="rect">
            <a:avLst/>
          </a:prstGeom>
          <a:noFill/>
          <a:ln/>
        </p:spPr>
        <p:txBody>
          <a:bodyPr wrap="square" lIns="0" tIns="0" rIns="0" bIns="0" rtlCol="0" anchor="ctr"/>
          <a:lstStyle/>
          <a:p>
            <a:pPr marL="0" indent="0" algn="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The agent communicates tailored advice and emphasizes consultation with healthcare professionals.</a:t>
            </a:r>
            <a:endParaRPr lang="en-US" sz="1850" dirty="0"/>
          </a:p>
        </p:txBody>
      </p:sp>
      <p:sp>
        <p:nvSpPr>
          <p:cNvPr id="10" name="Text 3"/>
          <p:cNvSpPr/>
          <p:nvPr/>
        </p:nvSpPr>
        <p:spPr>
          <a:xfrm>
            <a:off x="9710928" y="2331720"/>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User Context Analysis</a:t>
            </a:r>
            <a:endParaRPr lang="en-US" sz="2320" dirty="0"/>
          </a:p>
        </p:txBody>
      </p:sp>
      <p:sp>
        <p:nvSpPr>
          <p:cNvPr id="11" name="Text 4"/>
          <p:cNvSpPr/>
          <p:nvPr/>
        </p:nvSpPr>
        <p:spPr>
          <a:xfrm>
            <a:off x="9710928" y="5248656"/>
            <a:ext cx="3986784" cy="374904"/>
          </a:xfrm>
          <a:prstGeom prst="rect">
            <a:avLst/>
          </a:prstGeom>
          <a:noFill/>
          <a:ln/>
        </p:spPr>
        <p:txBody>
          <a:bodyPr wrap="none" lIns="0" tIns="0" rIns="0" bIns="0" rtlCol="0" anchor="ctr"/>
          <a:lstStyle/>
          <a:p>
            <a:pPr marL="0" indent="0" algn="l">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Semantic Retrieval</a:t>
            </a:r>
            <a:endParaRPr lang="en-US" sz="2320" dirty="0"/>
          </a:p>
        </p:txBody>
      </p:sp>
      <p:sp>
        <p:nvSpPr>
          <p:cNvPr id="12" name="Text 5"/>
          <p:cNvSpPr/>
          <p:nvPr/>
        </p:nvSpPr>
        <p:spPr>
          <a:xfrm>
            <a:off x="950976" y="2999232"/>
            <a:ext cx="3986784" cy="1188720"/>
          </a:xfrm>
          <a:prstGeom prst="rect">
            <a:avLst/>
          </a:prstGeom>
          <a:noFill/>
          <a:ln/>
        </p:spPr>
        <p:txBody>
          <a:bodyPr wrap="square" lIns="0" tIns="0" rIns="0" bIns="0" rtlCol="0" anchor="ctr"/>
          <a:lstStyle/>
          <a:p>
            <a:pPr marL="0" indent="0" algn="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A comprehensive dataset of medicines, including names and dosages, is curated to support user queries.</a:t>
            </a:r>
            <a:endParaRPr lang="en-US" sz="1850" dirty="0"/>
          </a:p>
        </p:txBody>
      </p:sp>
      <p:sp>
        <p:nvSpPr>
          <p:cNvPr id="13" name="Text 6"/>
          <p:cNvSpPr/>
          <p:nvPr/>
        </p:nvSpPr>
        <p:spPr>
          <a:xfrm>
            <a:off x="950976" y="5065776"/>
            <a:ext cx="3986784" cy="740664"/>
          </a:xfrm>
          <a:prstGeom prst="rect">
            <a:avLst/>
          </a:prstGeom>
          <a:noFill/>
          <a:ln/>
        </p:spPr>
        <p:txBody>
          <a:bodyPr wrap="square" lIns="0" tIns="0" rIns="0" bIns="0" rtlCol="0" anchor="ctr"/>
          <a:lstStyle/>
          <a:p>
            <a:pPr marL="0" indent="0" algn="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Personalized Recommendations</a:t>
            </a:r>
            <a:endParaRPr lang="en-US" sz="2320" dirty="0"/>
          </a:p>
        </p:txBody>
      </p:sp>
      <p:sp>
        <p:nvSpPr>
          <p:cNvPr id="14" name="Text 7"/>
          <p:cNvSpPr/>
          <p:nvPr/>
        </p:nvSpPr>
        <p:spPr>
          <a:xfrm>
            <a:off x="832104" y="731520"/>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55ABB"/>
                </a:solidFill>
                <a:latin typeface="思源黑体-思源黑体-Bold" pitchFamily="34" charset="0"/>
                <a:ea typeface="思源黑体-思源黑体-Bold" pitchFamily="34" charset="-122"/>
                <a:cs typeface="思源黑体-思源黑体-Bold" pitchFamily="34" charset="-120"/>
              </a:rPr>
              <a:t>Medication Advisor Agent Overview</a:t>
            </a:r>
            <a:endParaRPr lang="en-US" sz="4640" dirty="0"/>
          </a:p>
        </p:txBody>
      </p:sp>
      <p:sp>
        <p:nvSpPr>
          <p:cNvPr id="15" name="Text 8"/>
          <p:cNvSpPr/>
          <p:nvPr/>
        </p:nvSpPr>
        <p:spPr>
          <a:xfrm>
            <a:off x="950976" y="1993392"/>
            <a:ext cx="3986784" cy="740664"/>
          </a:xfrm>
          <a:prstGeom prst="rect">
            <a:avLst/>
          </a:prstGeom>
          <a:noFill/>
          <a:ln/>
        </p:spPr>
        <p:txBody>
          <a:bodyPr wrap="square" lIns="0" tIns="0" rIns="0" bIns="0" rtlCol="0" anchor="ctr"/>
          <a:lstStyle/>
          <a:p>
            <a:pPr marL="0" indent="0" algn="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Data Collection &amp; Preparation</a:t>
            </a:r>
            <a:endParaRPr lang="en-US" sz="2320" dirty="0"/>
          </a:p>
        </p:txBody>
      </p:sp>
      <p:sp>
        <p:nvSpPr>
          <p:cNvPr id="16" name="Text 9"/>
          <p:cNvSpPr/>
          <p:nvPr/>
        </p:nvSpPr>
        <p:spPr>
          <a:xfrm>
            <a:off x="6108192" y="3282696"/>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2320" dirty="0"/>
          </a:p>
        </p:txBody>
      </p:sp>
      <p:sp>
        <p:nvSpPr>
          <p:cNvPr id="17" name="Text 10"/>
          <p:cNvSpPr/>
          <p:nvPr/>
        </p:nvSpPr>
        <p:spPr>
          <a:xfrm>
            <a:off x="6108192" y="5532120"/>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4</a:t>
            </a:r>
            <a:endParaRPr lang="en-US" sz="2320" dirty="0"/>
          </a:p>
        </p:txBody>
      </p:sp>
      <p:sp>
        <p:nvSpPr>
          <p:cNvPr id="18" name="Text 11"/>
          <p:cNvSpPr/>
          <p:nvPr/>
        </p:nvSpPr>
        <p:spPr>
          <a:xfrm>
            <a:off x="8357616" y="5532120"/>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3</a:t>
            </a:r>
            <a:endParaRPr lang="en-US" sz="2320" dirty="0"/>
          </a:p>
        </p:txBody>
      </p:sp>
      <p:sp>
        <p:nvSpPr>
          <p:cNvPr id="19" name="Text 12"/>
          <p:cNvSpPr/>
          <p:nvPr/>
        </p:nvSpPr>
        <p:spPr>
          <a:xfrm>
            <a:off x="8357616" y="3282696"/>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2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9052560"/>
          </a:xfrm>
          <a:prstGeom prst="rect">
            <a:avLst/>
          </a:prstGeom>
        </p:spPr>
      </p:pic>
      <p:pic>
        <p:nvPicPr>
          <p:cNvPr id="3" name="Image 1" descr="preencoded.png"/>
          <p:cNvPicPr>
            <a:picLocks noChangeAspect="1"/>
          </p:cNvPicPr>
          <p:nvPr/>
        </p:nvPicPr>
        <p:blipFill>
          <a:blip r:embed="rId4"/>
          <a:stretch>
            <a:fillRect/>
          </a:stretch>
        </p:blipFill>
        <p:spPr>
          <a:xfrm>
            <a:off x="9445752" y="1792224"/>
            <a:ext cx="2423160" cy="1600200"/>
          </a:xfrm>
          <a:prstGeom prst="rect">
            <a:avLst/>
          </a:prstGeom>
        </p:spPr>
      </p:pic>
      <p:pic>
        <p:nvPicPr>
          <p:cNvPr id="4" name="Image 2" descr="preencoded.png"/>
          <p:cNvPicPr>
            <a:picLocks noChangeAspect="1"/>
          </p:cNvPicPr>
          <p:nvPr/>
        </p:nvPicPr>
        <p:blipFill>
          <a:blip r:embed="rId5"/>
          <a:stretch>
            <a:fillRect/>
          </a:stretch>
        </p:blipFill>
        <p:spPr>
          <a:xfrm>
            <a:off x="2779776" y="1792224"/>
            <a:ext cx="2423160" cy="1600200"/>
          </a:xfrm>
          <a:prstGeom prst="rect">
            <a:avLst/>
          </a:prstGeom>
        </p:spPr>
      </p:pic>
      <p:pic>
        <p:nvPicPr>
          <p:cNvPr id="5" name="Image 3" descr="preencoded.png"/>
          <p:cNvPicPr>
            <a:picLocks noChangeAspect="1"/>
          </p:cNvPicPr>
          <p:nvPr/>
        </p:nvPicPr>
        <p:blipFill>
          <a:blip r:embed="rId6"/>
          <a:stretch>
            <a:fillRect/>
          </a:stretch>
        </p:blipFill>
        <p:spPr>
          <a:xfrm>
            <a:off x="9445752" y="5340096"/>
            <a:ext cx="2423160" cy="1600200"/>
          </a:xfrm>
          <a:prstGeom prst="rect">
            <a:avLst/>
          </a:prstGeom>
        </p:spPr>
      </p:pic>
      <p:pic>
        <p:nvPicPr>
          <p:cNvPr id="6" name="Image 4" descr="preencoded.png"/>
          <p:cNvPicPr>
            <a:picLocks noChangeAspect="1"/>
          </p:cNvPicPr>
          <p:nvPr/>
        </p:nvPicPr>
        <p:blipFill>
          <a:blip r:embed="rId7"/>
          <a:stretch>
            <a:fillRect/>
          </a:stretch>
        </p:blipFill>
        <p:spPr>
          <a:xfrm>
            <a:off x="2779776" y="5340096"/>
            <a:ext cx="2423160" cy="1600200"/>
          </a:xfrm>
          <a:prstGeom prst="rect">
            <a:avLst/>
          </a:prstGeom>
        </p:spPr>
      </p:pic>
      <p:sp>
        <p:nvSpPr>
          <p:cNvPr id="7" name="Text 0"/>
          <p:cNvSpPr/>
          <p:nvPr/>
        </p:nvSpPr>
        <p:spPr>
          <a:xfrm>
            <a:off x="7626096" y="4133088"/>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The platform focuses on user experience, tailoring responses based on individual needs.</a:t>
            </a:r>
            <a:endParaRPr lang="en-US" sz="1850" dirty="0"/>
          </a:p>
        </p:txBody>
      </p:sp>
      <p:sp>
        <p:nvSpPr>
          <p:cNvPr id="8" name="Text 1"/>
          <p:cNvSpPr/>
          <p:nvPr/>
        </p:nvSpPr>
        <p:spPr>
          <a:xfrm>
            <a:off x="7626096" y="7168896"/>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Call to Action</a:t>
            </a:r>
            <a:endParaRPr lang="en-US" sz="2320" dirty="0"/>
          </a:p>
        </p:txBody>
      </p:sp>
      <p:sp>
        <p:nvSpPr>
          <p:cNvPr id="9" name="Text 2"/>
          <p:cNvSpPr/>
          <p:nvPr/>
        </p:nvSpPr>
        <p:spPr>
          <a:xfrm>
            <a:off x="7626096" y="7680960"/>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We encourage collaboration in developing CareConnect’s features.</a:t>
            </a:r>
            <a:endParaRPr lang="en-US" sz="1850" dirty="0"/>
          </a:p>
        </p:txBody>
      </p:sp>
      <p:sp>
        <p:nvSpPr>
          <p:cNvPr id="10" name="Text 3"/>
          <p:cNvSpPr/>
          <p:nvPr/>
        </p:nvSpPr>
        <p:spPr>
          <a:xfrm>
            <a:off x="960120" y="7168896"/>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Future Integration Plans</a:t>
            </a:r>
            <a:endParaRPr lang="en-US" sz="2320" dirty="0"/>
          </a:p>
        </p:txBody>
      </p:sp>
      <p:sp>
        <p:nvSpPr>
          <p:cNvPr id="11" name="Text 4"/>
          <p:cNvSpPr/>
          <p:nvPr/>
        </p:nvSpPr>
        <p:spPr>
          <a:xfrm>
            <a:off x="960120" y="7680960"/>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Plans to integrate telemedicine services and AI-driven health tracking tools.</a:t>
            </a:r>
            <a:endParaRPr lang="en-US" sz="1850" dirty="0"/>
          </a:p>
        </p:txBody>
      </p:sp>
      <p:sp>
        <p:nvSpPr>
          <p:cNvPr id="12" name="Text 5"/>
          <p:cNvSpPr/>
          <p:nvPr/>
        </p:nvSpPr>
        <p:spPr>
          <a:xfrm>
            <a:off x="832104" y="649224"/>
            <a:ext cx="12984480" cy="740664"/>
          </a:xfrm>
          <a:prstGeom prst="rect">
            <a:avLst/>
          </a:prstGeom>
          <a:noFill/>
          <a:ln/>
        </p:spPr>
        <p:txBody>
          <a:bodyPr wrap="none" lIns="0" tIns="0" rIns="0" bIns="0" rtlCol="0" anchor="ctr"/>
          <a:lstStyle/>
          <a:p>
            <a:pPr marL="0" indent="0" algn="l">
              <a:lnSpc>
                <a:spcPts val="5800"/>
              </a:lnSpc>
              <a:buNone/>
            </a:pPr>
            <a:r>
              <a:rPr lang="en-US" sz="4640" dirty="0">
                <a:solidFill>
                  <a:srgbClr val="055ABB"/>
                </a:solidFill>
                <a:latin typeface="思源黑体-思源黑体-Bold" pitchFamily="34" charset="0"/>
                <a:ea typeface="思源黑体-思源黑体-Bold" pitchFamily="34" charset="-122"/>
                <a:cs typeface="思源黑体-思源黑体-Bold" pitchFamily="34" charset="-120"/>
              </a:rPr>
              <a:t>Conclusion &amp; Future Development</a:t>
            </a:r>
            <a:endParaRPr lang="en-US" sz="4640" dirty="0"/>
          </a:p>
        </p:txBody>
      </p:sp>
      <p:sp>
        <p:nvSpPr>
          <p:cNvPr id="13" name="Text 6"/>
          <p:cNvSpPr/>
          <p:nvPr/>
        </p:nvSpPr>
        <p:spPr>
          <a:xfrm>
            <a:off x="960120" y="4133088"/>
            <a:ext cx="6053328" cy="594360"/>
          </a:xfrm>
          <a:prstGeom prst="rect">
            <a:avLst/>
          </a:prstGeom>
          <a:noFill/>
          <a:ln/>
        </p:spPr>
        <p:txBody>
          <a:bodyPr wrap="square" lIns="0" tIns="0" rIns="0" bIns="0" rtlCol="0" anchor="ctr"/>
          <a:lstStyle/>
          <a:p>
            <a:pPr marL="0" indent="0" algn="ctr">
              <a:lnSpc>
                <a:spcPts val="2320"/>
              </a:lnSpc>
              <a:buNone/>
            </a:pPr>
            <a:r>
              <a:rPr lang="en-US" sz="1850" dirty="0">
                <a:solidFill>
                  <a:srgbClr val="212121"/>
                </a:solidFill>
                <a:latin typeface="思源黑体-思源黑体-Medium" pitchFamily="34" charset="0"/>
                <a:ea typeface="思源黑体-思源黑体-Medium" pitchFamily="34" charset="-122"/>
                <a:cs typeface="思源黑体-思源黑体-Medium" pitchFamily="34" charset="-120"/>
              </a:rPr>
              <a:t>CareConnect aims to bridge the gap in healthcare accessibility.</a:t>
            </a:r>
            <a:endParaRPr lang="en-US" sz="1850" dirty="0"/>
          </a:p>
        </p:txBody>
      </p:sp>
      <p:sp>
        <p:nvSpPr>
          <p:cNvPr id="14" name="Text 7"/>
          <p:cNvSpPr/>
          <p:nvPr/>
        </p:nvSpPr>
        <p:spPr>
          <a:xfrm>
            <a:off x="7626096" y="3621024"/>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User-Centric Design</a:t>
            </a:r>
            <a:endParaRPr lang="en-US" sz="2320" dirty="0"/>
          </a:p>
        </p:txBody>
      </p:sp>
      <p:sp>
        <p:nvSpPr>
          <p:cNvPr id="15" name="Text 8"/>
          <p:cNvSpPr/>
          <p:nvPr/>
        </p:nvSpPr>
        <p:spPr>
          <a:xfrm>
            <a:off x="960120" y="3621024"/>
            <a:ext cx="6053328" cy="374904"/>
          </a:xfrm>
          <a:prstGeom prst="rect">
            <a:avLst/>
          </a:prstGeom>
          <a:noFill/>
          <a:ln/>
        </p:spPr>
        <p:txBody>
          <a:bodyPr wrap="none" lIns="0" tIns="0" rIns="0" bIns="0" rtlCol="0" anchor="ctr"/>
          <a:lstStyle/>
          <a:p>
            <a:pPr marL="0" indent="0" algn="ctr">
              <a:lnSpc>
                <a:spcPts val="2900"/>
              </a:lnSpc>
              <a:buNone/>
            </a:pPr>
            <a:r>
              <a:rPr lang="en-US" sz="2320" dirty="0">
                <a:solidFill>
                  <a:srgbClr val="212121"/>
                </a:solidFill>
                <a:latin typeface="思源黑体-思源黑体-Bold" pitchFamily="34" charset="0"/>
                <a:ea typeface="思源黑体-思源黑体-Bold" pitchFamily="34" charset="-122"/>
                <a:cs typeface="思源黑体-思源黑体-Bold" pitchFamily="34" charset="-120"/>
              </a:rPr>
              <a:t>Empowering Healthcare Access</a:t>
            </a:r>
            <a:endParaRPr lang="en-US" sz="2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408</Words>
  <Application>Microsoft Office PowerPoint</Application>
  <PresentationFormat>Custom</PresentationFormat>
  <Paragraphs>63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思源黑体-思源黑体-Bold</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Himanshu Sharma</cp:lastModifiedBy>
  <cp:revision>2</cp:revision>
  <dcterms:created xsi:type="dcterms:W3CDTF">2025-05-31T18:35:07Z</dcterms:created>
  <dcterms:modified xsi:type="dcterms:W3CDTF">2025-05-31T18:40:44Z</dcterms:modified>
</cp:coreProperties>
</file>